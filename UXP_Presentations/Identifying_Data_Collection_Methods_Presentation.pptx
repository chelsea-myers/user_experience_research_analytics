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0" r:id="rId8"/>
    <p:sldId id="263" r:id="rId9"/>
    <p:sldId id="266" r:id="rId10"/>
    <p:sldId id="269" r:id="rId11"/>
    <p:sldId id="270" r:id="rId12"/>
    <p:sldId id="264" r:id="rId13"/>
    <p:sldId id="271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020311-C363-46F1-87A9-29587C000C5B}" v="1" dt="2025-05-15T17:51:24.7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24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ers, Chelsea" userId="f282533b-c263-466c-86f9-3d67bd04ab31" providerId="ADAL" clId="{A9020311-C363-46F1-87A9-29587C000C5B}"/>
    <pc:docChg chg="custSel modSld">
      <pc:chgData name="Myers, Chelsea" userId="f282533b-c263-466c-86f9-3d67bd04ab31" providerId="ADAL" clId="{A9020311-C363-46F1-87A9-29587C000C5B}" dt="2025-05-15T17:50:20.654" v="0" actId="3626"/>
      <pc:docMkLst>
        <pc:docMk/>
      </pc:docMkLst>
      <pc:sldChg chg="modSp mod">
        <pc:chgData name="Myers, Chelsea" userId="f282533b-c263-466c-86f9-3d67bd04ab31" providerId="ADAL" clId="{A9020311-C363-46F1-87A9-29587C000C5B}" dt="2025-05-15T17:50:20.654" v="0" actId="3626"/>
        <pc:sldMkLst>
          <pc:docMk/>
          <pc:sldMk cId="0" sldId="256"/>
        </pc:sldMkLst>
        <pc:spChg chg="mod">
          <ac:chgData name="Myers, Chelsea" userId="f282533b-c263-466c-86f9-3d67bd04ab31" providerId="ADAL" clId="{A9020311-C363-46F1-87A9-29587C000C5B}" dt="2025-05-15T17:50:20.654" v="0" actId="3626"/>
          <ac:spMkLst>
            <pc:docMk/>
            <pc:sldMk cId="0" sldId="256"/>
            <ac:spMk id="3" creationId="{00000000-0000-0000-0000-000000000000}"/>
          </ac:spMkLst>
        </pc:spChg>
      </pc:sldChg>
    </pc:docChg>
  </pc:docChgLst>
  <pc:docChgLst>
    <pc:chgData name="Myers, Chelsea" userId="f282533b-c263-466c-86f9-3d67bd04ab31" providerId="ADAL" clId="{9F164F29-15D1-49D3-8850-A2F43E663C03}"/>
    <pc:docChg chg="modSld">
      <pc:chgData name="Myers, Chelsea" userId="f282533b-c263-466c-86f9-3d67bd04ab31" providerId="ADAL" clId="{9F164F29-15D1-49D3-8850-A2F43E663C03}" dt="2025-03-06T15:59:34.887" v="1" actId="1076"/>
      <pc:docMkLst>
        <pc:docMk/>
      </pc:docMkLst>
      <pc:sldChg chg="modSp mod">
        <pc:chgData name="Myers, Chelsea" userId="f282533b-c263-466c-86f9-3d67bd04ab31" providerId="ADAL" clId="{9F164F29-15D1-49D3-8850-A2F43E663C03}" dt="2025-03-06T15:59:34.887" v="1" actId="1076"/>
        <pc:sldMkLst>
          <pc:docMk/>
          <pc:sldMk cId="986149401" sldId="271"/>
        </pc:sldMkLst>
        <pc:picChg chg="mod">
          <ac:chgData name="Myers, Chelsea" userId="f282533b-c263-466c-86f9-3d67bd04ab31" providerId="ADAL" clId="{9F164F29-15D1-49D3-8850-A2F43E663C03}" dt="2025-03-06T15:59:34.887" v="1" actId="1076"/>
          <ac:picMkLst>
            <pc:docMk/>
            <pc:sldMk cId="986149401" sldId="271"/>
            <ac:picMk id="6" creationId="{4169D623-9EC2-A2C4-9737-E82ED041EA2A}"/>
          </ac:picMkLst>
        </pc:picChg>
      </pc:sldChg>
    </pc:docChg>
  </pc:docChgLst>
  <pc:docChgLst>
    <pc:chgData name="Myers, Chelsea" userId="f282533b-c263-466c-86f9-3d67bd04ab31" providerId="ADAL" clId="{C834549F-E21D-4001-970E-F3AC1063B89B}"/>
    <pc:docChg chg="undo custSel addSld delSld modSld sldOrd">
      <pc:chgData name="Myers, Chelsea" userId="f282533b-c263-466c-86f9-3d67bd04ab31" providerId="ADAL" clId="{C834549F-E21D-4001-970E-F3AC1063B89B}" dt="2025-01-03T19:04:30.580" v="641" actId="1076"/>
      <pc:docMkLst>
        <pc:docMk/>
      </pc:docMkLst>
      <pc:sldChg chg="addSp delSp modSp mod setBg addAnim">
        <pc:chgData name="Myers, Chelsea" userId="f282533b-c263-466c-86f9-3d67bd04ab31" providerId="ADAL" clId="{C834549F-E21D-4001-970E-F3AC1063B89B}" dt="2025-01-03T18:36:30.429" v="374" actId="26606"/>
        <pc:sldMkLst>
          <pc:docMk/>
          <pc:sldMk cId="0" sldId="256"/>
        </pc:sldMkLst>
      </pc:sldChg>
      <pc:sldChg chg="addSp delSp modSp mod setBg">
        <pc:chgData name="Myers, Chelsea" userId="f282533b-c263-466c-86f9-3d67bd04ab31" providerId="ADAL" clId="{C834549F-E21D-4001-970E-F3AC1063B89B}" dt="2025-01-03T19:02:28.958" v="615" actId="20577"/>
        <pc:sldMkLst>
          <pc:docMk/>
          <pc:sldMk cId="0" sldId="257"/>
        </pc:sldMkLst>
      </pc:sldChg>
      <pc:sldChg chg="addSp modSp mod setBg">
        <pc:chgData name="Myers, Chelsea" userId="f282533b-c263-466c-86f9-3d67bd04ab31" providerId="ADAL" clId="{C834549F-E21D-4001-970E-F3AC1063B89B}" dt="2025-01-03T18:24:31.480" v="189" actId="20577"/>
        <pc:sldMkLst>
          <pc:docMk/>
          <pc:sldMk cId="0" sldId="258"/>
        </pc:sldMkLst>
      </pc:sldChg>
      <pc:sldChg chg="addSp modSp mod setBg">
        <pc:chgData name="Myers, Chelsea" userId="f282533b-c263-466c-86f9-3d67bd04ab31" providerId="ADAL" clId="{C834549F-E21D-4001-970E-F3AC1063B89B}" dt="2025-01-03T18:25:19.061" v="196" actId="113"/>
        <pc:sldMkLst>
          <pc:docMk/>
          <pc:sldMk cId="0" sldId="259"/>
        </pc:sldMkLst>
      </pc:sldChg>
      <pc:sldChg chg="addSp delSp modSp mod setBg">
        <pc:chgData name="Myers, Chelsea" userId="f282533b-c263-466c-86f9-3d67bd04ab31" providerId="ADAL" clId="{C834549F-E21D-4001-970E-F3AC1063B89B}" dt="2025-01-03T18:27:38.935" v="214" actId="255"/>
        <pc:sldMkLst>
          <pc:docMk/>
          <pc:sldMk cId="0" sldId="260"/>
        </pc:sldMkLst>
      </pc:sldChg>
      <pc:sldChg chg="modSp del mod">
        <pc:chgData name="Myers, Chelsea" userId="f282533b-c263-466c-86f9-3d67bd04ab31" providerId="ADAL" clId="{C834549F-E21D-4001-970E-F3AC1063B89B}" dt="2025-01-03T18:27:43.818" v="215" actId="47"/>
        <pc:sldMkLst>
          <pc:docMk/>
          <pc:sldMk cId="0" sldId="261"/>
        </pc:sldMkLst>
      </pc:sldChg>
      <pc:sldChg chg="modSp del mod">
        <pc:chgData name="Myers, Chelsea" userId="f282533b-c263-466c-86f9-3d67bd04ab31" providerId="ADAL" clId="{C834549F-E21D-4001-970E-F3AC1063B89B}" dt="2025-01-03T18:27:53.445" v="216" actId="47"/>
        <pc:sldMkLst>
          <pc:docMk/>
          <pc:sldMk cId="0" sldId="262"/>
        </pc:sldMkLst>
      </pc:sldChg>
      <pc:sldChg chg="addSp delSp modSp mod setBg">
        <pc:chgData name="Myers, Chelsea" userId="f282533b-c263-466c-86f9-3d67bd04ab31" providerId="ADAL" clId="{C834549F-E21D-4001-970E-F3AC1063B89B}" dt="2025-01-03T18:32:12.317" v="325" actId="27636"/>
        <pc:sldMkLst>
          <pc:docMk/>
          <pc:sldMk cId="0" sldId="263"/>
        </pc:sldMkLst>
      </pc:sldChg>
      <pc:sldChg chg="addSp modSp mod setBg">
        <pc:chgData name="Myers, Chelsea" userId="f282533b-c263-466c-86f9-3d67bd04ab31" providerId="ADAL" clId="{C834549F-E21D-4001-970E-F3AC1063B89B}" dt="2025-01-03T18:34:07.714" v="360" actId="255"/>
        <pc:sldMkLst>
          <pc:docMk/>
          <pc:sldMk cId="0" sldId="264"/>
        </pc:sldMkLst>
      </pc:sldChg>
      <pc:sldChg chg="addSp modSp mod setBg">
        <pc:chgData name="Myers, Chelsea" userId="f282533b-c263-466c-86f9-3d67bd04ab31" providerId="ADAL" clId="{C834549F-E21D-4001-970E-F3AC1063B89B}" dt="2025-01-03T19:00:37.985" v="579" actId="20577"/>
        <pc:sldMkLst>
          <pc:docMk/>
          <pc:sldMk cId="0" sldId="265"/>
        </pc:sldMkLst>
      </pc:sldChg>
      <pc:sldChg chg="addSp modSp add mod setBg">
        <pc:chgData name="Myers, Chelsea" userId="f282533b-c263-466c-86f9-3d67bd04ab31" providerId="ADAL" clId="{C834549F-E21D-4001-970E-F3AC1063B89B}" dt="2025-01-03T18:32:51.054" v="337" actId="20577"/>
        <pc:sldMkLst>
          <pc:docMk/>
          <pc:sldMk cId="1978765748" sldId="266"/>
        </pc:sldMkLst>
      </pc:sldChg>
      <pc:sldChg chg="addSp delSp modSp new mod">
        <pc:chgData name="Myers, Chelsea" userId="f282533b-c263-466c-86f9-3d67bd04ab31" providerId="ADAL" clId="{C834549F-E21D-4001-970E-F3AC1063B89B}" dt="2025-01-03T18:40:04.890" v="383" actId="20577"/>
        <pc:sldMkLst>
          <pc:docMk/>
          <pc:sldMk cId="4028699892" sldId="267"/>
        </pc:sldMkLst>
      </pc:sldChg>
      <pc:sldChg chg="addSp delSp modSp add mod">
        <pc:chgData name="Myers, Chelsea" userId="f282533b-c263-466c-86f9-3d67bd04ab31" providerId="ADAL" clId="{C834549F-E21D-4001-970E-F3AC1063B89B}" dt="2025-01-03T18:43:41.617" v="412" actId="1076"/>
        <pc:sldMkLst>
          <pc:docMk/>
          <pc:sldMk cId="568675927" sldId="268"/>
        </pc:sldMkLst>
      </pc:sldChg>
      <pc:sldChg chg="addSp delSp modSp add mod ord">
        <pc:chgData name="Myers, Chelsea" userId="f282533b-c263-466c-86f9-3d67bd04ab31" providerId="ADAL" clId="{C834549F-E21D-4001-970E-F3AC1063B89B}" dt="2025-01-03T18:59:07.094" v="463" actId="1076"/>
        <pc:sldMkLst>
          <pc:docMk/>
          <pc:sldMk cId="3294063662" sldId="269"/>
        </pc:sldMkLst>
      </pc:sldChg>
      <pc:sldChg chg="addSp delSp modSp add mod">
        <pc:chgData name="Myers, Chelsea" userId="f282533b-c263-466c-86f9-3d67bd04ab31" providerId="ADAL" clId="{C834549F-E21D-4001-970E-F3AC1063B89B}" dt="2025-01-03T18:57:54.582" v="455" actId="22"/>
        <pc:sldMkLst>
          <pc:docMk/>
          <pc:sldMk cId="2552585530" sldId="270"/>
        </pc:sldMkLst>
      </pc:sldChg>
      <pc:sldChg chg="addSp delSp modSp add mod ord">
        <pc:chgData name="Myers, Chelsea" userId="f282533b-c263-466c-86f9-3d67bd04ab31" providerId="ADAL" clId="{C834549F-E21D-4001-970E-F3AC1063B89B}" dt="2025-01-03T19:04:30.580" v="641" actId="1076"/>
        <pc:sldMkLst>
          <pc:docMk/>
          <pc:sldMk cId="986149401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ullsailedu-my.sharepoint.com/personal/chelseam_fullsail_com/Documents/Desktop/UX%20Research%20Analytics/AR%20enhanced%20nursing%20training.pdf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 abstract design with lines and financial symbols">
            <a:extLst>
              <a:ext uri="{FF2B5EF4-FFF2-40B4-BE49-F238E27FC236}">
                <a16:creationId xmlns:a16="http://schemas.microsoft.com/office/drawing/2014/main" id="{27CB7BD7-2D41-929E-738E-2F36B88920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67" t="6484" r="29780" b="2"/>
          <a:stretch/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17450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3017520" cy="3204134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600"/>
              <a:t>Identifying Data Collection Methods in a UX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3017519" cy="1208141"/>
          </a:xfrm>
        </p:spPr>
        <p:txBody>
          <a:bodyPr>
            <a:normAutofit/>
          </a:bodyPr>
          <a:lstStyle/>
          <a:p>
            <a:pPr algn="l"/>
            <a:r>
              <a:rPr lang="en-US" sz="1700" dirty="0"/>
              <a:t>Example: </a:t>
            </a:r>
            <a:r>
              <a:rPr lang="en-US" sz="1700" dirty="0">
                <a:hlinkClick r:id="rId3"/>
              </a:rPr>
              <a:t>AR-Enhanced Training for Nursing Students</a:t>
            </a:r>
            <a:endParaRPr lang="en-US" sz="17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Metal tic-tac-toe game pieces">
            <a:extLst>
              <a:ext uri="{FF2B5EF4-FFF2-40B4-BE49-F238E27FC236}">
                <a16:creationId xmlns:a16="http://schemas.microsoft.com/office/drawing/2014/main" id="{0D0AEB8B-6997-BF69-931C-86ED25387F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61" r="31797"/>
          <a:stretch/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r>
              <a:rPr lang="en-US" sz="350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170" y="2884929"/>
            <a:ext cx="4190495" cy="3374137"/>
          </a:xfrm>
        </p:spPr>
        <p:txBody>
          <a:bodyPr anchor="ctr">
            <a:noAutofit/>
          </a:bodyPr>
          <a:lstStyle/>
          <a:p>
            <a:r>
              <a:rPr lang="en-US" sz="2000"/>
              <a:t>Analyze UX case studies and identify qualitative and quantitative methods.</a:t>
            </a:r>
          </a:p>
          <a:p>
            <a:pPr lvl="1"/>
            <a:r>
              <a:rPr lang="en-US" sz="2000"/>
              <a:t>Finding key details in the case study.</a:t>
            </a:r>
          </a:p>
          <a:p>
            <a:pPr lvl="1"/>
            <a:r>
              <a:rPr lang="en-US" sz="2000"/>
              <a:t>Summarizing findings.</a:t>
            </a:r>
          </a:p>
          <a:p>
            <a:pPr lvl="1"/>
            <a:r>
              <a:rPr lang="en-US" sz="2000"/>
              <a:t>Identifying and categorizing data collection methods.</a:t>
            </a:r>
          </a:p>
          <a:p>
            <a:pPr lvl="1"/>
            <a:r>
              <a:rPr lang="en-US" sz="2000"/>
              <a:t>Results and reflection on effectiveness.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Where to find information in a UX Case Study?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558" y="2470244"/>
            <a:ext cx="4687057" cy="4275727"/>
          </a:xfrm>
        </p:spPr>
        <p:txBody>
          <a:bodyPr anchor="ctr">
            <a:normAutofit/>
          </a:bodyPr>
          <a:lstStyle/>
          <a:p>
            <a:r>
              <a:rPr lang="en-US" sz="2000"/>
              <a:t>A case study is a detailed account of a UX project, including research methods, findings, and recommendations.</a:t>
            </a:r>
          </a:p>
          <a:p>
            <a:r>
              <a:rPr lang="en-US" sz="2000"/>
              <a:t>Important sections:</a:t>
            </a:r>
          </a:p>
          <a:p>
            <a:pPr lvl="1"/>
            <a:r>
              <a:rPr lang="en-US" sz="2000" b="1"/>
              <a:t>Abstract: </a:t>
            </a:r>
            <a:r>
              <a:rPr lang="en-US" sz="2000"/>
              <a:t>For a high-level summary.</a:t>
            </a:r>
          </a:p>
          <a:p>
            <a:pPr lvl="1"/>
            <a:r>
              <a:rPr lang="en-US" sz="2000" b="1"/>
              <a:t>Introduction or Background: </a:t>
            </a:r>
            <a:r>
              <a:rPr lang="en-US" sz="2000"/>
              <a:t>For context and goals.</a:t>
            </a:r>
          </a:p>
          <a:p>
            <a:pPr lvl="1"/>
            <a:r>
              <a:rPr lang="en-US" sz="2000" b="1"/>
              <a:t>Results and Discussion: </a:t>
            </a:r>
            <a:r>
              <a:rPr lang="en-US" sz="2000"/>
              <a:t>For findings and implications.</a:t>
            </a:r>
          </a:p>
        </p:txBody>
      </p:sp>
      <p:pic>
        <p:nvPicPr>
          <p:cNvPr id="5" name="Picture 4" descr="Multi-colored paper-craft art">
            <a:extLst>
              <a:ext uri="{FF2B5EF4-FFF2-40B4-BE49-F238E27FC236}">
                <a16:creationId xmlns:a16="http://schemas.microsoft.com/office/drawing/2014/main" id="{614D6A5E-EF05-5418-51AE-7541255724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680" r="29443" b="-1"/>
          <a:stretch/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een dialogue boxes">
            <a:extLst>
              <a:ext uri="{FF2B5EF4-FFF2-40B4-BE49-F238E27FC236}">
                <a16:creationId xmlns:a16="http://schemas.microsoft.com/office/drawing/2014/main" id="{09527395-5985-A0EE-FCD5-357A73DDAE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68" r="25197" b="2"/>
          <a:stretch/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r>
              <a:rPr lang="en-US" sz="3500"/>
              <a:t>Summarizing a UX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776" y="2939430"/>
            <a:ext cx="4105715" cy="3374137"/>
          </a:xfrm>
        </p:spPr>
        <p:txBody>
          <a:bodyPr anchor="ctr">
            <a:noAutofit/>
          </a:bodyPr>
          <a:lstStyle/>
          <a:p>
            <a:r>
              <a:rPr lang="en-US" sz="2400" b="1"/>
              <a:t>Context: </a:t>
            </a:r>
            <a:r>
              <a:rPr lang="en-US" sz="2400"/>
              <a:t>Look in the Introduction or Background.</a:t>
            </a:r>
          </a:p>
          <a:p>
            <a:r>
              <a:rPr lang="en-US" sz="2400" b="1"/>
              <a:t>Goal: </a:t>
            </a:r>
            <a:r>
              <a:rPr lang="en-US" sz="2400"/>
              <a:t>Look in the Introduction or Methods section.</a:t>
            </a:r>
          </a:p>
          <a:p>
            <a:r>
              <a:rPr lang="en-US" sz="2400" b="1"/>
              <a:t>Findings: </a:t>
            </a:r>
            <a:r>
              <a:rPr lang="en-US" sz="2400"/>
              <a:t>Look in the Results and Discussion sections.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1985D-1F85-4D8D-6322-BDB414A96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752D0D-8E9A-F855-0F83-DA6F86611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611355"/>
            <a:ext cx="8229600" cy="2503653"/>
          </a:xfrm>
        </p:spPr>
      </p:pic>
    </p:spTree>
    <p:extLst>
      <p:ext uri="{BB962C8B-B14F-4D97-AF65-F5344CB8AC3E}">
        <p14:creationId xmlns:p14="http://schemas.microsoft.com/office/powerpoint/2010/main" val="4028699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1EC4F-43F8-57B7-D66D-32EB51904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8E181-9592-6540-68F1-6F03E6941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 and Findings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89AF7F6-DE31-6B72-9254-E2701A6E2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0456" y="1417638"/>
            <a:ext cx="6948834" cy="246571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8EC884-49BD-D345-B741-FBD8D4ED4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32" y="3840319"/>
            <a:ext cx="7153313" cy="262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675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Identifying Data Collection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2000" b="1"/>
              <a:t>Methods Section: </a:t>
            </a:r>
            <a:r>
              <a:rPr lang="en-US" sz="2000"/>
              <a:t>Describes how data was collected and analyzed.</a:t>
            </a:r>
          </a:p>
          <a:p>
            <a:r>
              <a:rPr lang="en-US" sz="2000" b="1"/>
              <a:t>Quantitative: </a:t>
            </a:r>
            <a:r>
              <a:rPr lang="en-US" sz="2000"/>
              <a:t>Structured, numerical data (e.g., competency scores).</a:t>
            </a:r>
          </a:p>
          <a:p>
            <a:r>
              <a:rPr lang="en-US" sz="2000" b="1"/>
              <a:t>Qualitative: </a:t>
            </a:r>
            <a:r>
              <a:rPr lang="en-US" sz="2000"/>
              <a:t>Descriptive, exploratory data (e.g., survey comments).</a:t>
            </a:r>
          </a:p>
          <a:p>
            <a:endParaRPr lang="en-US" sz="1700"/>
          </a:p>
          <a:p>
            <a:endParaRPr lang="en-US" sz="1700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FAD276E0-6766-B998-E3F0-2998D815E0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93" r="47030" b="-1"/>
          <a:stretch/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232718"/>
            <a:ext cx="3266449" cy="1616203"/>
          </a:xfrm>
        </p:spPr>
        <p:txBody>
          <a:bodyPr anchor="b">
            <a:normAutofit/>
          </a:bodyPr>
          <a:lstStyle/>
          <a:p>
            <a:r>
              <a:rPr lang="en-US" sz="2800"/>
              <a:t>Quantitative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056" y="2533476"/>
            <a:ext cx="4329775" cy="3734100"/>
          </a:xfrm>
        </p:spPr>
        <p:txBody>
          <a:bodyPr anchor="t"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sz="2000" b="1" i="0">
                <a:effectLst/>
                <a:latin typeface="Open Sans" panose="020B0606030504020204" pitchFamily="34" charset="0"/>
              </a:rPr>
              <a:t>Surveys/Questionnaires: </a:t>
            </a:r>
            <a:r>
              <a:rPr lang="en-US" sz="2000" b="0" i="0">
                <a:effectLst/>
                <a:latin typeface="Open Sans" panose="020B0606030504020204" pitchFamily="34" charset="0"/>
              </a:rPr>
              <a:t>Structured questions with predefined answers to quantify user attitudes and behaviors.</a:t>
            </a:r>
          </a:p>
          <a:p>
            <a:pPr>
              <a:lnSpc>
                <a:spcPct val="90000"/>
              </a:lnSpc>
            </a:pPr>
            <a:r>
              <a:rPr lang="en-US" sz="2000" b="1" i="0">
                <a:effectLst/>
                <a:latin typeface="Open Sans" panose="020B0606030504020204" pitchFamily="34" charset="0"/>
              </a:rPr>
              <a:t>Analytics Data: </a:t>
            </a:r>
            <a:r>
              <a:rPr lang="en-US" sz="2000" b="0" i="0">
                <a:effectLst/>
                <a:latin typeface="Open Sans" panose="020B0606030504020204" pitchFamily="34" charset="0"/>
              </a:rPr>
              <a:t>Data from web analytics tools to track user interactions and metrics.</a:t>
            </a:r>
          </a:p>
          <a:p>
            <a:pPr>
              <a:lnSpc>
                <a:spcPct val="90000"/>
              </a:lnSpc>
            </a:pPr>
            <a:r>
              <a:rPr lang="en-US" sz="2000" b="1" i="0">
                <a:effectLst/>
                <a:latin typeface="Open Sans" panose="020B0606030504020204" pitchFamily="34" charset="0"/>
              </a:rPr>
              <a:t>A/B Testing: </a:t>
            </a:r>
            <a:r>
              <a:rPr lang="en-US" sz="2000" b="0" i="0">
                <a:effectLst/>
                <a:latin typeface="Open Sans" panose="020B0606030504020204" pitchFamily="34" charset="0"/>
              </a:rPr>
              <a:t>Comparing two versions of a design to measure performance differences.</a:t>
            </a:r>
          </a:p>
          <a:p>
            <a:pPr>
              <a:lnSpc>
                <a:spcPct val="90000"/>
              </a:lnSpc>
            </a:pPr>
            <a:r>
              <a:rPr lang="en-US" sz="2000" b="1" i="0">
                <a:effectLst/>
                <a:latin typeface="Open Sans" panose="020B0606030504020204" pitchFamily="34" charset="0"/>
              </a:rPr>
              <a:t>Task Completion: </a:t>
            </a:r>
            <a:r>
              <a:rPr lang="en-US" sz="2000" b="0" i="0">
                <a:effectLst/>
                <a:latin typeface="Open Sans" panose="020B0606030504020204" pitchFamily="34" charset="0"/>
              </a:rPr>
              <a:t>Measuring the time taken or ability of an individual to complete specific tasks.</a:t>
            </a:r>
          </a:p>
          <a:p>
            <a:pPr>
              <a:lnSpc>
                <a:spcPct val="90000"/>
              </a:lnSpc>
            </a:pPr>
            <a:r>
              <a:rPr lang="en-US" sz="2000" b="1" i="0">
                <a:effectLst/>
                <a:latin typeface="Open Sans" panose="020B0606030504020204" pitchFamily="34" charset="0"/>
              </a:rPr>
              <a:t>Click-Tracking: </a:t>
            </a:r>
            <a:r>
              <a:rPr lang="en-US" sz="2000" b="0" i="0">
                <a:effectLst/>
                <a:latin typeface="Open Sans" panose="020B0606030504020204" pitchFamily="34" charset="0"/>
              </a:rPr>
              <a:t>Tracking where and how often users click on elements.</a:t>
            </a:r>
          </a:p>
          <a:p>
            <a:pPr>
              <a:lnSpc>
                <a:spcPct val="90000"/>
              </a:lnSpc>
            </a:pPr>
            <a:r>
              <a:rPr lang="en-US" sz="2000" b="1" i="0">
                <a:effectLst/>
                <a:latin typeface="Open Sans" panose="020B0606030504020204" pitchFamily="34" charset="0"/>
              </a:rPr>
              <a:t>Eye-Tracking: </a:t>
            </a:r>
            <a:r>
              <a:rPr lang="en-US" sz="2000" b="0" i="0">
                <a:effectLst/>
                <a:latin typeface="Open Sans" panose="020B0606030504020204" pitchFamily="34" charset="0"/>
              </a:rPr>
              <a:t>Tracking where users eyes focus on a computer screen.</a:t>
            </a:r>
            <a:br>
              <a:rPr lang="en-US" sz="1200" b="1" i="0">
                <a:effectLst/>
                <a:latin typeface="Open Sans" panose="020B0606030504020204" pitchFamily="34" charset="0"/>
              </a:rPr>
            </a:br>
            <a:br>
              <a:rPr lang="en-US" sz="1200" b="1" i="0">
                <a:effectLst/>
                <a:latin typeface="Open Sans" panose="020B0606030504020204" pitchFamily="34" charset="0"/>
              </a:rPr>
            </a:br>
            <a:endParaRPr lang="en-US" sz="1200" b="0" i="0">
              <a:effectLst/>
              <a:latin typeface="Open Sans" panose="020B0606030504020204" pitchFamily="34" charset="0"/>
            </a:endParaRP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27DCD0A1-2CD8-5636-8D14-19EE42DEBA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00" r="36733"/>
          <a:stretch/>
        </p:blipFill>
        <p:spPr>
          <a:xfrm>
            <a:off x="4572000" y="10"/>
            <a:ext cx="457199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82135" y="3792161"/>
            <a:ext cx="1559464" cy="4579735"/>
          </a:xfrm>
          <a:prstGeom prst="rect">
            <a:avLst/>
          </a:prstGeom>
          <a:gradFill>
            <a:gsLst>
              <a:gs pos="0">
                <a:schemeClr val="accent5">
                  <a:alpha val="77000"/>
                </a:schemeClr>
              </a:gs>
              <a:gs pos="57000">
                <a:schemeClr val="accent5">
                  <a:lumMod val="60000"/>
                  <a:lumOff val="40000"/>
                  <a:alpha val="0"/>
                </a:schemeClr>
              </a:gs>
            </a:gsLst>
            <a:lin ang="11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3A50E9-9119-7BC3-083B-2D84CCC78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1580" y="-3760"/>
            <a:ext cx="1632418" cy="6857999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0000">
                <a:schemeClr val="accent2">
                  <a:alpha val="0"/>
                </a:schemeClr>
              </a:gs>
            </a:gsLst>
            <a:lin ang="11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4572000" y="5502302"/>
            <a:ext cx="4579735" cy="1359456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9000"/>
                </a:schemeClr>
              </a:gs>
              <a:gs pos="38000">
                <a:schemeClr val="accent5">
                  <a:lumMod val="60000"/>
                  <a:lumOff val="40000"/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770169" y="2939627"/>
            <a:ext cx="2372181" cy="391461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0FE981-09A3-345B-4E9A-05B590E9F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CFBA9-AAD1-C036-6C77-572FE557D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19" y="323553"/>
            <a:ext cx="3266449" cy="1616203"/>
          </a:xfrm>
        </p:spPr>
        <p:txBody>
          <a:bodyPr anchor="b">
            <a:normAutofit/>
          </a:bodyPr>
          <a:lstStyle/>
          <a:p>
            <a:r>
              <a:rPr lang="en-US" sz="2800"/>
              <a:t>Qualitative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A1E30-E3BE-B12A-64A5-07F01BD51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613" y="2533475"/>
            <a:ext cx="4251052" cy="4085327"/>
          </a:xfrm>
        </p:spPr>
        <p:txBody>
          <a:bodyPr anchor="t"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sz="2000" b="1" i="0">
                <a:effectLst/>
                <a:latin typeface="Open Sans" panose="020B0606030504020204" pitchFamily="34" charset="0"/>
              </a:rPr>
              <a:t>Interviews: </a:t>
            </a:r>
            <a:r>
              <a:rPr lang="en-US" sz="2000" b="0" i="0">
                <a:effectLst/>
                <a:latin typeface="Open Sans" panose="020B0606030504020204" pitchFamily="34" charset="0"/>
              </a:rPr>
              <a:t>In-depth discussions with users to explore their experiences and thoughts.</a:t>
            </a:r>
          </a:p>
          <a:p>
            <a:pPr>
              <a:lnSpc>
                <a:spcPct val="90000"/>
              </a:lnSpc>
            </a:pPr>
            <a:r>
              <a:rPr lang="en-US" sz="2000" b="1" i="0">
                <a:effectLst/>
                <a:latin typeface="Open Sans" panose="020B0606030504020204" pitchFamily="34" charset="0"/>
              </a:rPr>
              <a:t>Focus Groups: </a:t>
            </a:r>
            <a:r>
              <a:rPr lang="en-US" sz="2000" b="0" i="0">
                <a:effectLst/>
                <a:latin typeface="Open Sans" panose="020B0606030504020204" pitchFamily="34" charset="0"/>
              </a:rPr>
              <a:t>Group discussions to gather diverse user perspectives.</a:t>
            </a:r>
          </a:p>
          <a:p>
            <a:pPr>
              <a:lnSpc>
                <a:spcPct val="90000"/>
              </a:lnSpc>
            </a:pPr>
            <a:r>
              <a:rPr lang="en-US" sz="2000" b="1" i="0">
                <a:effectLst/>
                <a:latin typeface="Open Sans" panose="020B0606030504020204" pitchFamily="34" charset="0"/>
              </a:rPr>
              <a:t>Think-Aloud Protocols: </a:t>
            </a:r>
            <a:r>
              <a:rPr lang="en-US" sz="2000" b="0" i="0">
                <a:effectLst/>
                <a:latin typeface="Open Sans" panose="020B0606030504020204" pitchFamily="34" charset="0"/>
              </a:rPr>
              <a:t>Participants verbalize their thoughts while interacting with a product.</a:t>
            </a:r>
          </a:p>
          <a:p>
            <a:pPr>
              <a:lnSpc>
                <a:spcPct val="90000"/>
              </a:lnSpc>
            </a:pPr>
            <a:r>
              <a:rPr lang="en-US" sz="2000" b="1" i="0">
                <a:effectLst/>
                <a:latin typeface="Open Sans" panose="020B0606030504020204" pitchFamily="34" charset="0"/>
              </a:rPr>
              <a:t>Contextual Inquiry: </a:t>
            </a:r>
            <a:r>
              <a:rPr lang="en-US" sz="2000" b="0" i="0">
                <a:effectLst/>
                <a:latin typeface="Open Sans" panose="020B0606030504020204" pitchFamily="34" charset="0"/>
              </a:rPr>
              <a:t>Observing users in their natural environment.</a:t>
            </a:r>
          </a:p>
          <a:p>
            <a:pPr>
              <a:lnSpc>
                <a:spcPct val="90000"/>
              </a:lnSpc>
            </a:pPr>
            <a:r>
              <a:rPr lang="en-US" sz="2000" b="1" i="0">
                <a:effectLst/>
                <a:latin typeface="Open Sans" panose="020B0606030504020204" pitchFamily="34" charset="0"/>
              </a:rPr>
              <a:t>Card Sorting: </a:t>
            </a:r>
            <a:r>
              <a:rPr lang="en-US" sz="2000" b="0" i="0">
                <a:effectLst/>
                <a:latin typeface="Open Sans" panose="020B0606030504020204" pitchFamily="34" charset="0"/>
              </a:rPr>
              <a:t>Users organize content into categories, revealing their mental models.</a:t>
            </a:r>
          </a:p>
          <a:p>
            <a:pPr>
              <a:lnSpc>
                <a:spcPct val="90000"/>
              </a:lnSpc>
            </a:pPr>
            <a:r>
              <a:rPr lang="en-US" sz="2000" b="1" i="0">
                <a:effectLst/>
                <a:latin typeface="Open Sans" panose="020B0606030504020204" pitchFamily="34" charset="0"/>
              </a:rPr>
              <a:t>Diary Studies: </a:t>
            </a:r>
            <a:r>
              <a:rPr lang="en-US" sz="2000" b="0" i="0">
                <a:effectLst/>
                <a:latin typeface="Open Sans" panose="020B0606030504020204" pitchFamily="34" charset="0"/>
              </a:rPr>
              <a:t>Users document their experiences over time.</a:t>
            </a:r>
          </a:p>
          <a:p>
            <a:pPr>
              <a:lnSpc>
                <a:spcPct val="90000"/>
              </a:lnSpc>
            </a:pPr>
            <a:r>
              <a:rPr lang="en-US" sz="2000" b="1" i="0">
                <a:effectLst/>
                <a:latin typeface="Open Sans" panose="020B0606030504020204" pitchFamily="34" charset="0"/>
              </a:rPr>
              <a:t>Ethnography Studies: </a:t>
            </a:r>
            <a:r>
              <a:rPr lang="en-US" sz="2000" b="0" i="0">
                <a:effectLst/>
                <a:latin typeface="Open Sans" panose="020B0606030504020204" pitchFamily="34" charset="0"/>
              </a:rPr>
              <a:t>Talking with people and observing them perform their tasks in their own natural context.</a:t>
            </a:r>
            <a:br>
              <a:rPr lang="en-US" sz="1100" b="1" i="0">
                <a:effectLst/>
                <a:latin typeface="Open Sans" panose="020B0606030504020204" pitchFamily="34" charset="0"/>
              </a:rPr>
            </a:br>
            <a:endParaRPr lang="en-US" sz="1100" b="0" i="0">
              <a:effectLst/>
              <a:latin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40BC96-8152-C709-7805-6BA0892514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71" r="42229"/>
          <a:stretch/>
        </p:blipFill>
        <p:spPr>
          <a:xfrm>
            <a:off x="4572000" y="10"/>
            <a:ext cx="457199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82135" y="3792161"/>
            <a:ext cx="1559464" cy="4579735"/>
          </a:xfrm>
          <a:prstGeom prst="rect">
            <a:avLst/>
          </a:prstGeom>
          <a:gradFill>
            <a:gsLst>
              <a:gs pos="0">
                <a:schemeClr val="accent5">
                  <a:alpha val="77000"/>
                </a:schemeClr>
              </a:gs>
              <a:gs pos="57000">
                <a:schemeClr val="accent5">
                  <a:lumMod val="60000"/>
                  <a:lumOff val="40000"/>
                  <a:alpha val="0"/>
                </a:schemeClr>
              </a:gs>
            </a:gsLst>
            <a:lin ang="11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3A50E9-9119-7BC3-083B-2D84CCC78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1580" y="-3760"/>
            <a:ext cx="1632418" cy="6857999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0000">
                <a:schemeClr val="accent2">
                  <a:alpha val="0"/>
                </a:schemeClr>
              </a:gs>
            </a:gsLst>
            <a:lin ang="11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4572000" y="5502302"/>
            <a:ext cx="4579735" cy="1359456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9000"/>
                </a:schemeClr>
              </a:gs>
              <a:gs pos="38000">
                <a:schemeClr val="accent5">
                  <a:lumMod val="60000"/>
                  <a:lumOff val="40000"/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770169" y="2939627"/>
            <a:ext cx="2372181" cy="391461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65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0E412-B8F6-162E-435E-60E138BB8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4FF8B-928E-2FB1-CB2C-0A7F1B511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Collection Methods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926135E-9636-2F90-78BE-09F397E211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68135"/>
            <a:ext cx="8229600" cy="1585241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DE6E7D-3B36-E027-73C0-832346BCA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84" y="3473843"/>
            <a:ext cx="8110891" cy="15852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E0D467-0EDB-E0E6-71A1-366BAF106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84" y="5220227"/>
            <a:ext cx="8229600" cy="117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063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D487C-7CCD-68FC-9AE2-3AD1F28D7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FD76C-0FBF-DAEB-E612-9652FE1D6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Collection Methods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124B7FD-98DF-06F7-3968-F892651C79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497548"/>
            <a:ext cx="8229600" cy="2931291"/>
          </a:xfrm>
        </p:spPr>
      </p:pic>
    </p:spTree>
    <p:extLst>
      <p:ext uri="{BB962C8B-B14F-4D97-AF65-F5344CB8AC3E}">
        <p14:creationId xmlns:p14="http://schemas.microsoft.com/office/powerpoint/2010/main" val="2552585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8" y="335663"/>
            <a:ext cx="3266449" cy="1616203"/>
          </a:xfrm>
        </p:spPr>
        <p:txBody>
          <a:bodyPr anchor="b">
            <a:normAutofit/>
          </a:bodyPr>
          <a:lstStyle/>
          <a:p>
            <a:r>
              <a:rPr lang="en-US" sz="2800"/>
              <a:t>Reflecting on Effectiveness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19" y="2533476"/>
            <a:ext cx="3266448" cy="3447832"/>
          </a:xfrm>
        </p:spPr>
        <p:txBody>
          <a:bodyPr anchor="t">
            <a:normAutofit/>
          </a:bodyPr>
          <a:lstStyle/>
          <a:p>
            <a:r>
              <a:rPr lang="en-US" sz="2000" b="1"/>
              <a:t>Results Section: </a:t>
            </a:r>
            <a:r>
              <a:rPr lang="en-US" sz="2000"/>
              <a:t>For outcomes of each method.</a:t>
            </a:r>
          </a:p>
          <a:p>
            <a:r>
              <a:rPr lang="en-US" sz="2000" b="1"/>
              <a:t>Discussion Section: </a:t>
            </a:r>
            <a:r>
              <a:rPr lang="en-US" sz="2000"/>
              <a:t>For author reflections on strengths and limitations.</a:t>
            </a:r>
          </a:p>
        </p:txBody>
      </p:sp>
      <p:pic>
        <p:nvPicPr>
          <p:cNvPr id="5" name="Picture 4" descr="Person holding a puzzle piece">
            <a:extLst>
              <a:ext uri="{FF2B5EF4-FFF2-40B4-BE49-F238E27FC236}">
                <a16:creationId xmlns:a16="http://schemas.microsoft.com/office/drawing/2014/main" id="{1C24CF4D-6D76-47DF-D660-4B077595A4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79" r="27254" b="-1"/>
          <a:stretch/>
        </p:blipFill>
        <p:spPr>
          <a:xfrm>
            <a:off x="4572000" y="10"/>
            <a:ext cx="457199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82135" y="3792161"/>
            <a:ext cx="1559464" cy="4579735"/>
          </a:xfrm>
          <a:prstGeom prst="rect">
            <a:avLst/>
          </a:prstGeom>
          <a:gradFill>
            <a:gsLst>
              <a:gs pos="0">
                <a:schemeClr val="accent5">
                  <a:alpha val="77000"/>
                </a:schemeClr>
              </a:gs>
              <a:gs pos="57000">
                <a:schemeClr val="accent5">
                  <a:lumMod val="60000"/>
                  <a:lumOff val="40000"/>
                  <a:alpha val="0"/>
                </a:schemeClr>
              </a:gs>
            </a:gsLst>
            <a:lin ang="11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3A50E9-9119-7BC3-083B-2D84CCC78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1580" y="-3760"/>
            <a:ext cx="1632418" cy="6857999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0000">
                <a:schemeClr val="accent2">
                  <a:alpha val="0"/>
                </a:schemeClr>
              </a:gs>
            </a:gsLst>
            <a:lin ang="11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4572000" y="5502302"/>
            <a:ext cx="4579735" cy="1359456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9000"/>
                </a:schemeClr>
              </a:gs>
              <a:gs pos="38000">
                <a:schemeClr val="accent5">
                  <a:lumMod val="60000"/>
                  <a:lumOff val="40000"/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770169" y="2939627"/>
            <a:ext cx="2372181" cy="391461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1B81C-A3F7-46D2-9578-CA22F62EE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9E0EB-31C1-183D-708A-E10F86F95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and Implications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169D623-9EC2-A2C4-9737-E82ED041E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558" y="1901197"/>
            <a:ext cx="8229600" cy="221993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FBBD99-A3FC-58A4-D543-B9AFB52C5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08" y="4452967"/>
            <a:ext cx="7908650" cy="131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49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480999"/>
            <a:ext cx="3266449" cy="1616203"/>
          </a:xfrm>
        </p:spPr>
        <p:txBody>
          <a:bodyPr anchor="b">
            <a:normAutofit/>
          </a:bodyPr>
          <a:lstStyle/>
          <a:p>
            <a:r>
              <a:rPr lang="en-US" sz="2800"/>
              <a:t>Submission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19" y="2533476"/>
            <a:ext cx="3266448" cy="3447832"/>
          </a:xfrm>
        </p:spPr>
        <p:txBody>
          <a:bodyPr anchor="t">
            <a:normAutofit lnSpcReduction="10000"/>
          </a:bodyPr>
          <a:lstStyle/>
          <a:p>
            <a:r>
              <a:rPr lang="en-US" sz="2000" b="1"/>
              <a:t>Case Study Summary: </a:t>
            </a:r>
            <a:r>
              <a:rPr lang="en-US" sz="2000"/>
              <a:t>Abstract, Introduction, and Results sections.</a:t>
            </a:r>
          </a:p>
          <a:p>
            <a:r>
              <a:rPr lang="en-US" sz="2000" b="1"/>
              <a:t>Data Collection Methods: </a:t>
            </a:r>
            <a:r>
              <a:rPr lang="en-US" sz="2000"/>
              <a:t>Methods section.</a:t>
            </a:r>
          </a:p>
          <a:p>
            <a:r>
              <a:rPr lang="en-US" sz="2000" b="1"/>
              <a:t>Reflection: </a:t>
            </a:r>
            <a:r>
              <a:rPr lang="en-US" sz="2000"/>
              <a:t>Discussion section for strengths and areas for improvement.</a:t>
            </a:r>
          </a:p>
          <a:p>
            <a:r>
              <a:rPr lang="en-US" sz="2000"/>
              <a:t>Make sure to identify where in the paper your answers came from!</a:t>
            </a:r>
          </a:p>
        </p:txBody>
      </p:sp>
      <p:pic>
        <p:nvPicPr>
          <p:cNvPr id="5" name="Picture 4" descr="Different colored organizers">
            <a:extLst>
              <a:ext uri="{FF2B5EF4-FFF2-40B4-BE49-F238E27FC236}">
                <a16:creationId xmlns:a16="http://schemas.microsoft.com/office/drawing/2014/main" id="{B2D8FB52-7E20-3FEC-42F9-4E0964A42A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87" r="29780" b="1"/>
          <a:stretch/>
        </p:blipFill>
        <p:spPr>
          <a:xfrm>
            <a:off x="4572000" y="10"/>
            <a:ext cx="457199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82135" y="3792161"/>
            <a:ext cx="1559464" cy="4579735"/>
          </a:xfrm>
          <a:prstGeom prst="rect">
            <a:avLst/>
          </a:prstGeom>
          <a:gradFill>
            <a:gsLst>
              <a:gs pos="0">
                <a:schemeClr val="accent5">
                  <a:alpha val="77000"/>
                </a:schemeClr>
              </a:gs>
              <a:gs pos="57000">
                <a:schemeClr val="accent5">
                  <a:lumMod val="60000"/>
                  <a:lumOff val="40000"/>
                  <a:alpha val="0"/>
                </a:schemeClr>
              </a:gs>
            </a:gsLst>
            <a:lin ang="11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3A50E9-9119-7BC3-083B-2D84CCC78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1580" y="-3760"/>
            <a:ext cx="1632418" cy="6857999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0000">
                <a:schemeClr val="accent2">
                  <a:alpha val="0"/>
                </a:schemeClr>
              </a:gs>
            </a:gsLst>
            <a:lin ang="11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4572000" y="5502302"/>
            <a:ext cx="4579735" cy="1359456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9000"/>
                </a:schemeClr>
              </a:gs>
              <a:gs pos="38000">
                <a:schemeClr val="accent5">
                  <a:lumMod val="60000"/>
                  <a:lumOff val="40000"/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770169" y="2939627"/>
            <a:ext cx="2372181" cy="391461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</Words>
  <Application>Microsoft Office PowerPoint</Application>
  <PresentationFormat>On-screen Show (4:3)</PresentationFormat>
  <Paragraphs>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Open Sans</vt:lpstr>
      <vt:lpstr>Office Theme</vt:lpstr>
      <vt:lpstr>Identifying Data Collection Methods in a UX Case Study</vt:lpstr>
      <vt:lpstr>Objectives</vt:lpstr>
      <vt:lpstr>Where to find information in a UX Case Study?</vt:lpstr>
      <vt:lpstr>Summarizing a UX Case Study</vt:lpstr>
      <vt:lpstr>Context</vt:lpstr>
      <vt:lpstr>Goal and Findings</vt:lpstr>
      <vt:lpstr>Identifying Data Collection Methods</vt:lpstr>
      <vt:lpstr>Quantitative Methods</vt:lpstr>
      <vt:lpstr>Qualitative Methods</vt:lpstr>
      <vt:lpstr>Data Collection Methods</vt:lpstr>
      <vt:lpstr>Data Collection Methods</vt:lpstr>
      <vt:lpstr>Reflecting on Effectiveness</vt:lpstr>
      <vt:lpstr>Results and Implications </vt:lpstr>
      <vt:lpstr>Submission Checklist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Myers, Chelsea</dc:creator>
  <cp:keywords/>
  <dc:description>generated using python-pptx</dc:description>
  <cp:lastModifiedBy>Myers, Chelsea</cp:lastModifiedBy>
  <cp:revision>1</cp:revision>
  <dcterms:created xsi:type="dcterms:W3CDTF">2013-01-27T09:14:16Z</dcterms:created>
  <dcterms:modified xsi:type="dcterms:W3CDTF">2025-05-15T17:51:27Z</dcterms:modified>
  <cp:category/>
</cp:coreProperties>
</file>